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64040" y="1476375"/>
            <a:ext cx="421592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UCP Analytics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064050" y="2333625"/>
            <a:ext cx="1015901" cy="38100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99323" y="2625626"/>
            <a:ext cx="614520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0"/>
              </a:spcAft>
              <a:buNone/>
            </a:pPr>
            <a:r>
              <a:rPr lang="en-US" sz="2200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Observability for the AI Shopping Era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760756" y="3457426"/>
            <a:ext cx="16224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Session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UCP?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15876"/>
            <a:ext cx="762000" cy="3810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082576"/>
            <a:ext cx="4013002" cy="1098352"/>
          </a:xfrm>
          <a:prstGeom prst="roundRect">
            <a:avLst>
              <a:gd name="adj" fmla="val 9250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0482" y="1260277"/>
            <a:ext cx="3367939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USB for Commerce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7950" y="2409527"/>
            <a:ext cx="41451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Commerce Protocol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50" y="2720578"/>
            <a:ext cx="4145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standard API for all shopping:</a:t>
            </a:r>
            <a:endParaRPr lang="en-US" sz="1200" dirty="0"/>
          </a:p>
          <a:p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7950" y="3253978"/>
            <a:ext cx="4145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use UCP to shop on behalf of users across any merchant, any payment provider.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25752" y="2409527"/>
            <a:ext cx="3886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Backers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25752" y="2720578"/>
            <a:ext cx="3810000" cy="94476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760"/>
              </a:lnSpc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Commerce:</a:t>
            </a:r>
            <a:pPr algn="l" indent="0" marL="0">
              <a:lnSpc>
                <a:spcPts val="176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Google, Shopify, Walmart, Etsy, Target, Wayfair</a:t>
            </a:r>
            <a:endParaRPr lang="en-US" sz="1100" dirty="0"/>
          </a:p>
          <a:p>
            <a:pPr algn="l" marL="101600" indent="-101600">
              <a:lnSpc>
                <a:spcPts val="1760"/>
              </a:lnSpc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Payments:</a:t>
            </a:r>
            <a:pPr algn="l" indent="0" marL="0">
              <a:lnSpc>
                <a:spcPts val="176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Visa, Mastercard, Stripe, Adyen</a:t>
            </a:r>
            <a:endParaRPr lang="en-US" sz="1100" dirty="0"/>
          </a:p>
          <a:p>
            <a:pPr algn="l" marL="101600" indent="-101600">
              <a:lnSpc>
                <a:spcPts val="1760"/>
              </a:lnSpc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Ecosystem:</a:t>
            </a:r>
            <a:pPr algn="l" indent="0" marL="0">
              <a:lnSpc>
                <a:spcPts val="176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20+ endorsed partners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950" y="3965079"/>
            <a:ext cx="2514302" cy="279202"/>
          </a:xfrm>
          <a:prstGeom prst="roundRect">
            <a:avLst>
              <a:gd name="adj" fmla="val 18195"/>
            </a:avLst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4062" y="4028480"/>
            <a:ext cx="22020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January 2026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Gap: UCP Has No Observability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777776"/>
            <a:ext cx="762000" cy="38100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069777"/>
            <a:ext cx="8128099" cy="742950"/>
          </a:xfrm>
          <a:prstGeom prst="roundRect">
            <a:avLst>
              <a:gd name="adj" fmla="val 10256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1069777"/>
            <a:ext cx="0" cy="742950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476" y="1222177"/>
            <a:ext cx="772412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UCP defines the protocol but ships </a:t>
            </a:r>
            <a:pPr algn="l" indent="0" marL="0">
              <a:buNone/>
            </a:pPr>
            <a:r>
              <a:rPr lang="en-US" sz="15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analytics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 event tracking, no dashboards, no metrics.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7950" y="2066627"/>
            <a:ext cx="82906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Unanswered Questions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403128"/>
            <a:ext cx="8128099" cy="1485305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percentage of checkouts actually complete?</a:t>
            </a:r>
            <a:endParaRPr lang="en-US" sz="1300" dirty="0"/>
          </a:p>
          <a:p>
            <a:pPr algn="l" marL="114300" indent="-1143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buyers drop off in the funnel?</a:t>
            </a:r>
            <a:endParaRPr lang="en-US" sz="1300" dirty="0"/>
          </a:p>
          <a:p>
            <a:pPr algn="l" marL="114300" indent="-1143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payment methods fail, and why?</a:t>
            </a:r>
            <a:endParaRPr lang="en-US" sz="1300" dirty="0"/>
          </a:p>
          <a:p>
            <a:pPr algn="l" marL="114300" indent="-1143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fast are merchants responding?</a:t>
            </a:r>
            <a:endParaRPr lang="en-US" sz="1300" dirty="0"/>
          </a:p>
          <a:p>
            <a:pPr algn="l" marL="114300" indent="-1143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capabilities are being adopted?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950" y="4142333"/>
            <a:ext cx="8128099" cy="463451"/>
          </a:xfrm>
          <a:prstGeom prst="roundRect">
            <a:avLst>
              <a:gd name="adj" fmla="val 16442"/>
            </a:avLst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85648" y="4269284"/>
            <a:ext cx="777270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merchant must build this independently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UCP Analytics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15876"/>
            <a:ext cx="762000" cy="3810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057126"/>
            <a:ext cx="8128099" cy="653951"/>
          </a:xfrm>
          <a:prstGeom prst="roundRect">
            <a:avLst>
              <a:gd name="adj" fmla="val 11652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1057126"/>
            <a:ext cx="0" cy="653951"/>
          </a:xfrm>
          <a:prstGeom prst="line">
            <a:avLst/>
          </a:prstGeom>
          <a:noFill/>
          <a:ln w="47625">
            <a:solidFill>
              <a:srgbClr val="0E83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476" y="1184077"/>
            <a:ext cx="772412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in a middleware or hook —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business-logic changes</a:t>
            </a:r>
            <a:pPr algn="l" indent="0" marL="0">
              <a:buNone/>
            </a:pPr>
            <a:r>
              <a:rPr lang="en-US" sz="13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structured commerce analytics in BigQuery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1990427"/>
            <a:ext cx="2540198" cy="1688009"/>
          </a:xfrm>
          <a:prstGeom prst="roundRect">
            <a:avLst>
              <a:gd name="adj" fmla="val 6019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07950" y="2009477"/>
            <a:ext cx="2540198" cy="0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1101" y="2231678"/>
            <a:ext cx="217657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Middleware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1101" y="2507903"/>
            <a:ext cx="2176576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Merchant-side capture. Intercepts all UCP requests and responses automatically.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1101" y="3196084"/>
            <a:ext cx="1523851" cy="279202"/>
          </a:xfrm>
          <a:prstGeom prst="roundRect">
            <a:avLst>
              <a:gd name="adj" fmla="val 18195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5352" y="3246834"/>
            <a:ext cx="129534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lines of code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02050" y="1990427"/>
            <a:ext cx="2540050" cy="1688009"/>
          </a:xfrm>
          <a:prstGeom prst="roundRect">
            <a:avLst>
              <a:gd name="adj" fmla="val 6019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302050" y="2009477"/>
            <a:ext cx="2540050" cy="0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05200" y="2231678"/>
            <a:ext cx="21764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HTTPX Event Hook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05200" y="2507903"/>
            <a:ext cx="2176424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Agent/platform-side capture. Hooks into outbound HTTP calls to merchants.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05200" y="3196084"/>
            <a:ext cx="1523851" cy="279202"/>
          </a:xfrm>
          <a:prstGeom prst="roundRect">
            <a:avLst>
              <a:gd name="adj" fmla="val 18195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619451" y="3246834"/>
            <a:ext cx="129534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lines of code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96000" y="1990427"/>
            <a:ext cx="2540050" cy="1688009"/>
          </a:xfrm>
          <a:prstGeom prst="roundRect">
            <a:avLst>
              <a:gd name="adj" fmla="val 6019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096000" y="2009477"/>
            <a:ext cx="2540050" cy="0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99150" y="2231678"/>
            <a:ext cx="21764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Plugin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99150" y="2507903"/>
            <a:ext cx="2176424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ADK integration. Plugin configuration for agent framework users.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99150" y="3196084"/>
            <a:ext cx="1523851" cy="279202"/>
          </a:xfrm>
          <a:prstGeom prst="roundRect">
            <a:avLst>
              <a:gd name="adj" fmla="val 18195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13401" y="3246834"/>
            <a:ext cx="129534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config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7950" y="3957786"/>
            <a:ext cx="8128099" cy="453926"/>
          </a:xfrm>
          <a:prstGeom prst="roundRect">
            <a:avLst>
              <a:gd name="adj" fmla="val 16787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85648" y="4084737"/>
            <a:ext cx="77727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integrations share the same tracker and write to the same BigQuery table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04800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727025"/>
            <a:ext cx="762000" cy="3810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43000" y="1060252"/>
            <a:ext cx="389632" cy="406301"/>
          </a:xfrm>
          <a:prstGeom prst="roundRect">
            <a:avLst>
              <a:gd name="adj" fmla="val 234683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83774" y="1153864"/>
            <a:ext cx="10808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710333" y="968276"/>
            <a:ext cx="6290667" cy="590252"/>
          </a:xfrm>
          <a:prstGeom prst="roundRect">
            <a:avLst>
              <a:gd name="adj" fmla="val 12910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1729383" y="968276"/>
            <a:ext cx="0" cy="590252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51583" y="1069777"/>
            <a:ext cx="5963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951583" y="1304627"/>
            <a:ext cx="5963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method + path + body mapped to one of 27 event types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41800" y="1609279"/>
            <a:ext cx="38100" cy="12695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43000" y="1878955"/>
            <a:ext cx="389632" cy="406301"/>
          </a:xfrm>
          <a:prstGeom prst="roundRect">
            <a:avLst>
              <a:gd name="adj" fmla="val 234683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283774" y="1972568"/>
            <a:ext cx="10808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10333" y="1786979"/>
            <a:ext cx="6290667" cy="590252"/>
          </a:xfrm>
          <a:prstGeom prst="roundRect">
            <a:avLst>
              <a:gd name="adj" fmla="val 12910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1729383" y="1786979"/>
            <a:ext cx="0" cy="590252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51583" y="1888480"/>
            <a:ext cx="5963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51583" y="2123331"/>
            <a:ext cx="5963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UCP JSON into structured fields (IDs, amounts, errors)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41800" y="2427982"/>
            <a:ext cx="38100" cy="12695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43000" y="2697659"/>
            <a:ext cx="389632" cy="406301"/>
          </a:xfrm>
          <a:prstGeom prst="roundRect">
            <a:avLst>
              <a:gd name="adj" fmla="val 234683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83774" y="2791271"/>
            <a:ext cx="10808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710333" y="2605683"/>
            <a:ext cx="6290667" cy="590252"/>
          </a:xfrm>
          <a:prstGeom prst="roundRect">
            <a:avLst>
              <a:gd name="adj" fmla="val 12910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1729383" y="2605683"/>
            <a:ext cx="0" cy="590252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51583" y="2707184"/>
            <a:ext cx="5963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951583" y="2942034"/>
            <a:ext cx="5963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events, batch at threshold (50), async streaming insert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41800" y="3246686"/>
            <a:ext cx="38100" cy="12695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43000" y="3516362"/>
            <a:ext cx="389632" cy="406301"/>
          </a:xfrm>
          <a:prstGeom prst="roundRect">
            <a:avLst>
              <a:gd name="adj" fmla="val 234683"/>
            </a:avLst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83774" y="3609975"/>
            <a:ext cx="10808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710333" y="3424386"/>
            <a:ext cx="6290667" cy="590252"/>
          </a:xfrm>
          <a:prstGeom prst="roundRect">
            <a:avLst>
              <a:gd name="adj" fmla="val 12910"/>
            </a:avLst>
          </a:prstGeom>
          <a:solidFill>
            <a:srgbClr val="2A3A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1729383" y="3424386"/>
            <a:ext cx="0" cy="590252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51583" y="3525887"/>
            <a:ext cx="5963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951583" y="3760738"/>
            <a:ext cx="5963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Partitioned by day, clustered by event_type + session + merchant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2539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Event Types — Full UCP Coverage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657076"/>
            <a:ext cx="762000" cy="3810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872877"/>
            <a:ext cx="2793802" cy="1306116"/>
          </a:xfrm>
          <a:prstGeom prst="roundRect">
            <a:avLst>
              <a:gd name="adj" fmla="val 4862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07950" y="891927"/>
            <a:ext cx="2793802" cy="0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4901" y="987177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 (6)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4901" y="1177677"/>
            <a:ext cx="2539901" cy="925116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03253" y="872877"/>
            <a:ext cx="2793802" cy="1306116"/>
          </a:xfrm>
          <a:prstGeom prst="roundRect">
            <a:avLst>
              <a:gd name="adj" fmla="val 4862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403253" y="891927"/>
            <a:ext cx="2793802" cy="0"/>
          </a:xfrm>
          <a:prstGeom prst="line">
            <a:avLst/>
          </a:prstGeom>
          <a:noFill/>
          <a:ln w="38100">
            <a:solidFill>
              <a:srgbClr val="2AA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0203" y="987177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A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 (4)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30203" y="1177677"/>
            <a:ext cx="2539901" cy="61674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2280493"/>
            <a:ext cx="2793802" cy="1306116"/>
          </a:xfrm>
          <a:prstGeom prst="roundRect">
            <a:avLst>
              <a:gd name="adj" fmla="val 4862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07950" y="2299543"/>
            <a:ext cx="2793802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901" y="2394793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(6)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4901" y="2585293"/>
            <a:ext cx="2539901" cy="925116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03253" y="2280493"/>
            <a:ext cx="2793802" cy="1306116"/>
          </a:xfrm>
          <a:prstGeom prst="roundRect">
            <a:avLst>
              <a:gd name="adj" fmla="val 4862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403253" y="2299543"/>
            <a:ext cx="2793802" cy="0"/>
          </a:xfrm>
          <a:prstGeom prst="line">
            <a:avLst/>
          </a:prstGeom>
          <a:noFill/>
          <a:ln w="381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30203" y="2394793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(3)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30203" y="2585293"/>
            <a:ext cx="2539901" cy="462558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7950" y="3688110"/>
            <a:ext cx="2793802" cy="997744"/>
          </a:xfrm>
          <a:prstGeom prst="roundRect">
            <a:avLst>
              <a:gd name="adj" fmla="val 6364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07950" y="3707160"/>
            <a:ext cx="2793802" cy="0"/>
          </a:xfrm>
          <a:prstGeom prst="line">
            <a:avLst/>
          </a:prstGeom>
          <a:noFill/>
          <a:ln w="38100">
            <a:solidFill>
              <a:srgbClr val="E9C4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901" y="3802410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(4)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901" y="3992910"/>
            <a:ext cx="2539901" cy="61674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03253" y="3688110"/>
            <a:ext cx="2793802" cy="997744"/>
          </a:xfrm>
          <a:prstGeom prst="roundRect">
            <a:avLst>
              <a:gd name="adj" fmla="val 6364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403253" y="3707160"/>
            <a:ext cx="2793802" cy="0"/>
          </a:xfrm>
          <a:prstGeom prst="line">
            <a:avLst/>
          </a:prstGeom>
          <a:noFill/>
          <a:ln w="38100">
            <a:solidFill>
              <a:srgbClr val="8899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30203" y="3802410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+ Fallback (4)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30203" y="3992910"/>
            <a:ext cx="2539901" cy="61674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profile_discovered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capability_negotiated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900" dirty="0"/>
          </a:p>
          <a:p>
            <a:pPr algn="l" marL="76200" indent="-76200">
              <a:lnSpc>
                <a:spcPts val="1215"/>
              </a:lnSpc>
              <a:buSzPct val="100000"/>
              <a:buChar char="•"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04800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Decisions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727025"/>
            <a:ext cx="762000" cy="3810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968276"/>
            <a:ext cx="1975545" cy="355402"/>
          </a:xfrm>
          <a:prstGeom prst="roundRect">
            <a:avLst>
              <a:gd name="adj" fmla="val 14294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0350" y="1069777"/>
            <a:ext cx="1704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483495" y="968276"/>
            <a:ext cx="6152555" cy="355402"/>
          </a:xfrm>
          <a:prstGeom prst="rect">
            <a:avLst/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35895" y="1069777"/>
            <a:ext cx="5964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</a:t>
            </a:r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GCP native, handles petabyte scale, SQL-native analytics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950" y="1374428"/>
            <a:ext cx="1975545" cy="355402"/>
          </a:xfrm>
          <a:prstGeom prst="roundRect">
            <a:avLst>
              <a:gd name="adj" fmla="val 14294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0350" y="1475929"/>
            <a:ext cx="1704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83495" y="1374428"/>
            <a:ext cx="6152555" cy="355402"/>
          </a:xfrm>
          <a:prstGeom prst="rect">
            <a:avLst/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635895" y="1475929"/>
            <a:ext cx="5964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observer</a:t>
            </a:r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zero changes to existing UCP server or client code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950" y="1780580"/>
            <a:ext cx="1975545" cy="355402"/>
          </a:xfrm>
          <a:prstGeom prst="roundRect">
            <a:avLst>
              <a:gd name="adj" fmla="val 14294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0350" y="1882080"/>
            <a:ext cx="1704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83495" y="1780580"/>
            <a:ext cx="6152555" cy="355402"/>
          </a:xfrm>
          <a:prstGeom prst="rect">
            <a:avLst/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35895" y="1882080"/>
            <a:ext cx="5964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buffer (default 50)</a:t>
            </a:r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never slows HTTP request/response cycle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950" y="2186732"/>
            <a:ext cx="1975545" cy="355402"/>
          </a:xfrm>
          <a:prstGeom prst="roundRect">
            <a:avLst>
              <a:gd name="adj" fmla="val 14294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60350" y="2288232"/>
            <a:ext cx="1704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Fire-and-forget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83495" y="2186732"/>
            <a:ext cx="6152555" cy="355402"/>
          </a:xfrm>
          <a:prstGeom prst="rect">
            <a:avLst/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635895" y="2288232"/>
            <a:ext cx="5964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tasks</a:t>
            </a:r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analytics failures never block commerce transactions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7950" y="2592884"/>
            <a:ext cx="1975545" cy="355402"/>
          </a:xfrm>
          <a:prstGeom prst="roundRect">
            <a:avLst>
              <a:gd name="adj" fmla="val 14294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60350" y="2694384"/>
            <a:ext cx="1704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83495" y="2592884"/>
            <a:ext cx="6152555" cy="355402"/>
          </a:xfrm>
          <a:prstGeom prst="rect">
            <a:avLst/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635895" y="2694384"/>
            <a:ext cx="5964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+ MCP + A2A</a:t>
            </a:r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all 3 UCP communication modes supported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950" y="2999036"/>
            <a:ext cx="1975545" cy="355402"/>
          </a:xfrm>
          <a:prstGeom prst="roundRect">
            <a:avLst>
              <a:gd name="adj" fmla="val 14294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60350" y="3100536"/>
            <a:ext cx="1704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failure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83495" y="2999036"/>
            <a:ext cx="6152555" cy="355402"/>
          </a:xfrm>
          <a:prstGeom prst="rect">
            <a:avLst/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35895" y="3100536"/>
            <a:ext cx="5964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failed rows</a:t>
            </a:r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minimizes duplication and data loss risk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7950" y="3405188"/>
            <a:ext cx="1975545" cy="355402"/>
          </a:xfrm>
          <a:prstGeom prst="roundRect">
            <a:avLst>
              <a:gd name="adj" fmla="val 14294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60350" y="3506688"/>
            <a:ext cx="1704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483495" y="3405188"/>
            <a:ext cx="6152555" cy="355402"/>
          </a:xfrm>
          <a:prstGeom prst="rect">
            <a:avLst/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635895" y="3506688"/>
            <a:ext cx="5964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redaction</a:t>
            </a:r>
            <a:pPr algn="l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configurable per deployment, no PCI-scope data stored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04800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Enables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727025"/>
            <a:ext cx="762000" cy="3810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044476"/>
            <a:ext cx="2882652" cy="882402"/>
          </a:xfrm>
          <a:prstGeom prst="roundRect">
            <a:avLst>
              <a:gd name="adj" fmla="val 8636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27000" y="1044476"/>
            <a:ext cx="0" cy="882402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3751" y="1196876"/>
            <a:ext cx="25389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 Funnel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751" y="1419076"/>
            <a:ext cx="253893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to completed conversion rate. Identify drop-off stages.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543002" y="1044476"/>
            <a:ext cx="2882652" cy="882402"/>
          </a:xfrm>
          <a:prstGeom prst="roundRect">
            <a:avLst>
              <a:gd name="adj" fmla="val 8636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562052" y="1044476"/>
            <a:ext cx="0" cy="882402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803" y="1196876"/>
            <a:ext cx="25389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by Merchant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58803" y="1419076"/>
            <a:ext cx="253893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 tracking per merchant host, currency, and time period.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950" y="2079278"/>
            <a:ext cx="2882652" cy="882402"/>
          </a:xfrm>
          <a:prstGeom prst="roundRect">
            <a:avLst>
              <a:gd name="adj" fmla="val 8636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27000" y="2079278"/>
            <a:ext cx="0" cy="882402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3751" y="2231678"/>
            <a:ext cx="25389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Percentiles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3751" y="2453878"/>
            <a:ext cx="253893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 / p95 / p99 response times per UCP operation type.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43002" y="2079278"/>
            <a:ext cx="2882652" cy="882402"/>
          </a:xfrm>
          <a:prstGeom prst="roundRect">
            <a:avLst>
              <a:gd name="adj" fmla="val 8636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562052" y="2079278"/>
            <a:ext cx="0" cy="882402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58803" y="2231678"/>
            <a:ext cx="25389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Analysis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758803" y="2453878"/>
            <a:ext cx="253893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code frequency, escalation patterns, resolution rates.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7950" y="3114080"/>
            <a:ext cx="2882652" cy="882402"/>
          </a:xfrm>
          <a:prstGeom prst="roundRect">
            <a:avLst>
              <a:gd name="adj" fmla="val 8636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27000" y="3114080"/>
            <a:ext cx="0" cy="882402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3751" y="3266480"/>
            <a:ext cx="25389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Mix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3751" y="3488680"/>
            <a:ext cx="253893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volume by payment handler and card brand.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43002" y="3114080"/>
            <a:ext cx="2882652" cy="882402"/>
          </a:xfrm>
          <a:prstGeom prst="roundRect">
            <a:avLst>
              <a:gd name="adj" fmla="val 8636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562052" y="3114080"/>
            <a:ext cx="0" cy="882402"/>
          </a:xfrm>
          <a:prstGeom prst="line">
            <a:avLst/>
          </a:prstGeom>
          <a:noFill/>
          <a:ln w="38100">
            <a:solidFill>
              <a:srgbClr val="0E83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58803" y="3266480"/>
            <a:ext cx="25389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Adoption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58803" y="3488680"/>
            <a:ext cx="253893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per merchant: which UCP extensions are live.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7950" y="4250382"/>
            <a:ext cx="8128099" cy="403027"/>
          </a:xfrm>
          <a:prstGeom prst="roundRect">
            <a:avLst>
              <a:gd name="adj" fmla="val 18907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648" y="4351883"/>
            <a:ext cx="77727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ready-to-use BigQuery queries included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2539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676126"/>
            <a:ext cx="762000" cy="38100"/>
          </a:xfrm>
          <a:prstGeom prst="rect">
            <a:avLst/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942677"/>
            <a:ext cx="2844552" cy="793552"/>
          </a:xfrm>
          <a:prstGeom prst="roundRect">
            <a:avLst>
              <a:gd name="adj" fmla="val 12803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0760" y="1069628"/>
            <a:ext cx="253893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~1,750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60760" y="1466404"/>
            <a:ext cx="2538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production code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54003" y="942677"/>
            <a:ext cx="2844552" cy="793552"/>
          </a:xfrm>
          <a:prstGeom prst="roundRect">
            <a:avLst>
              <a:gd name="adj" fmla="val 12803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606812" y="1069628"/>
            <a:ext cx="253893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~1,300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06812" y="1466404"/>
            <a:ext cx="2538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test code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1837730"/>
            <a:ext cx="2844552" cy="793552"/>
          </a:xfrm>
          <a:prstGeom prst="roundRect">
            <a:avLst>
              <a:gd name="adj" fmla="val 12803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0760" y="1964680"/>
            <a:ext cx="253893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0760" y="2361456"/>
            <a:ext cx="2538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Tests, all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54003" y="1837730"/>
            <a:ext cx="2844552" cy="793552"/>
          </a:xfrm>
          <a:prstGeom prst="roundRect">
            <a:avLst>
              <a:gd name="adj" fmla="val 12803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606812" y="1964680"/>
            <a:ext cx="253893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606812" y="2361456"/>
            <a:ext cx="2538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types (full UCP)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950" y="2732782"/>
            <a:ext cx="2844552" cy="793552"/>
          </a:xfrm>
          <a:prstGeom prst="roundRect">
            <a:avLst>
              <a:gd name="adj" fmla="val 12803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60760" y="2859732"/>
            <a:ext cx="253893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60760" y="3256508"/>
            <a:ext cx="2538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Transports (REST, MCP, A2A)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54003" y="2732782"/>
            <a:ext cx="2844552" cy="793552"/>
          </a:xfrm>
          <a:prstGeom prst="roundRect">
            <a:avLst>
              <a:gd name="adj" fmla="val 12803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606812" y="2859732"/>
            <a:ext cx="253893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3606812" y="3256508"/>
            <a:ext cx="2538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Runnable demos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950" y="3704034"/>
            <a:ext cx="8128099" cy="431602"/>
          </a:xfrm>
          <a:prstGeom prst="roundRect">
            <a:avLst>
              <a:gd name="adj" fmla="val 17655"/>
            </a:avLst>
          </a:prstGeom>
          <a:solidFill>
            <a:srgbClr val="243554"/>
          </a:solidFill>
          <a:ln w="9525">
            <a:solidFill>
              <a:srgbClr val="0E838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95364" y="3815060"/>
            <a:ext cx="77532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ucp-analytics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2539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676126"/>
            <a:ext cx="762000" cy="38100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891927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7901" y="977652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6651" y="891927"/>
            <a:ext cx="7569398" cy="593229"/>
          </a:xfrm>
          <a:prstGeom prst="roundRect">
            <a:avLst>
              <a:gd name="adj" fmla="val 12845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44352" y="993428"/>
            <a:ext cx="73582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Path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44352" y="1218754"/>
            <a:ext cx="735827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the UCP reference implementation or a companion package?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7950" y="1586657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7901" y="1672382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66651" y="1586657"/>
            <a:ext cx="7569398" cy="593229"/>
          </a:xfrm>
          <a:prstGeom prst="roundRect">
            <a:avLst>
              <a:gd name="adj" fmla="val 12845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244352" y="1688157"/>
            <a:ext cx="73582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4352" y="1913483"/>
            <a:ext cx="735827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Dataset-per-merchant isolation or single dataset with merchant_host filtering?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7950" y="2281386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7901" y="2367111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66651" y="2281386"/>
            <a:ext cx="7569398" cy="593229"/>
          </a:xfrm>
          <a:prstGeom prst="roundRect">
            <a:avLst>
              <a:gd name="adj" fmla="val 12845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44352" y="2382887"/>
            <a:ext cx="73582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44352" y="2608213"/>
            <a:ext cx="735827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BigQuery inserts vs. streaming pipeline (Pub/Sub + Dataflow)?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7950" y="2976116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0E83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901" y="3061841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66651" y="2976116"/>
            <a:ext cx="7569398" cy="593229"/>
          </a:xfrm>
          <a:prstGeom prst="roundRect">
            <a:avLst>
              <a:gd name="adj" fmla="val 12845"/>
            </a:avLst>
          </a:prstGeom>
          <a:solidFill>
            <a:srgbClr val="24355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44352" y="3077617"/>
            <a:ext cx="73582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8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Attribution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44352" y="3302943"/>
            <a:ext cx="735827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Correlate LLM token costs with commerce revenue for AI agent ROI?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Analytics — Whiteboard Session</dc:title>
  <dc:subject>PptxGenJS Presentation</dc:subject>
  <dc:creator>UCP Analytics Team</dc:creator>
  <cp:lastModifiedBy>UCP Analytics Team</cp:lastModifiedBy>
  <cp:revision>1</cp:revision>
  <dcterms:created xsi:type="dcterms:W3CDTF">2026-02-25T10:12:23Z</dcterms:created>
  <dcterms:modified xsi:type="dcterms:W3CDTF">2026-02-25T10:12:23Z</dcterms:modified>
</cp:coreProperties>
</file>